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999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Session opener. Emphasize that RNNs are used for sequential data: text, speech, time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blocks matching the Chapter 5 structure in the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Page 1 PDF: speech recognition, language modelling, machine translation, sentiment, image captioning.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 time t the cell has input x(t) and output y(t). Part of the output (ht) is fed back for t+1.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U, V, W are shared at every step. This drastically reduces the number of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that h3 already 'contains' x1, x2, x3 through the chain h2 and h1.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Forward: </a:t>
            </a:r>
            <a:r>
              <a:rPr dirty="0" err="1"/>
              <a:t>ŷ_t</a:t>
            </a:r>
            <a:r>
              <a:rPr dirty="0"/>
              <a:t> vs </a:t>
            </a:r>
            <a:r>
              <a:rPr dirty="0" err="1"/>
              <a:t>y_t</a:t>
            </a:r>
            <a:r>
              <a:rPr dirty="0"/>
              <a:t> → </a:t>
            </a:r>
            <a:r>
              <a:rPr dirty="0" err="1"/>
              <a:t>L_t</a:t>
            </a:r>
            <a:r>
              <a:rPr dirty="0"/>
              <a:t>. Backward: gradients of U, V, W are summed over all 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f→0, old memory is ignored. If i→0, the new candidate is ignored. These valves fight vanishing gradients.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834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Stress: seq2seq is many-to-many with a context bottleneck, not a 1:1 correspondence.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Decoding starts only after the full input is encoded. Training: teacher forcing. Inference: feed the model's own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 must be formed first. Decoder softmax picks a token; the next step uses that token (inference) or the target (teacher forcing).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three window samples from 'Alice was'. Aligned many-to-many RNN: each step predicts the next character.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sequential data as an RNN, but LSTM keeps the context of 'not' while reading 'good'. Pads are masked.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Unlike RNN/LSTM there are TWO sequences. The encoder must never see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h_t chain. Training compares softmax with Y; inference greedily samples or argmaxes the next char.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Gates i,f,o,g keep ‘not’ in the cell state. Pads are masked. Threshold the sigmoid at 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 with teacher forcing. Infer by looping from &lt;sos&gt; until &lt;eos&gt;. The encoder never sees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Loss: sparse categorical cross-entropy. Optimizer: Adam. Output (64,100,90) = character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Close with a question: when is GRU enough, when LSTM, when is bidirectional required?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TEACHING LEARNING MATERIAL  · 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D5EDEC"/>
                </a:solidFill>
                <a:latin typeface="Calibri"/>
              </a:rPr>
              <a:t>Session 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Recurrent Neural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9981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C5D0DC"/>
                </a:solidFill>
                <a:latin typeface="Calibri"/>
              </a:rPr>
              <a:t>From the basic RNN cell, BPTT, and vanishing gradients, through LSTM, GRU,
sequence topologies, and a character-level text generation case study.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60520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16365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1417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RNN cell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4160520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16365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20" y="4160520"/>
            <a:ext cx="1417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BPTT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4160520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16365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4160520"/>
            <a:ext cx="1417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LSTM / GRU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4160520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16365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2120" y="4160520"/>
            <a:ext cx="1417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Bidirectional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16052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16365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4160520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Text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B0C0"/>
                </a:solidFill>
                <a:latin typeface="Calibri"/>
              </a:rPr>
              <a:t>Source: Deep Learning TLM session 5.pdf  ·  Chapter 5  ·  TensorFlow / Keras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5706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Dosen Penyusun: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David Agustriawan, S.Kom., M.S.c., Ph.D.</a:t>
            </a:r>
          </a:p>
          <a:p>
            <a:r>
              <a:rPr lang="en-US" dirty="0">
                <a:solidFill>
                  <a:schemeClr val="bg1"/>
                </a:solidFill>
              </a:rPr>
              <a:t>Ajie Kusuma Wardhana, S.Kom., M.Eng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SESSION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What we will cover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868680" cy="8686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27101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The basic RNN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00200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Hidden state, U–V–W matrices, unrolling, weight sharing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30552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130552"/>
            <a:ext cx="868680" cy="86868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3055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2585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BPTT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587752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Backward gradient flow, vanishing &amp; exploding, clipping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18104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3118104"/>
            <a:ext cx="868680" cy="8686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1810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24612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Cell variants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575304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LSTM, GRU, peephole LSTM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05656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4105656"/>
            <a:ext cx="868680" cy="86868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05656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3367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Architecture variants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562856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Bidirectional, stateful, five topologies, Seq2Seq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93208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7200" y="5093208"/>
            <a:ext cx="868680" cy="8686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093208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221224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Case study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550408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RNN / LSTM / Seq2Seq data processing, then “Alice” text generation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Why an RNN, not a plain MLP?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RNNs exploit the sequential nature of their input.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77840" cy="10972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4591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5029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Words in a sentence depend on one another. 'bank' after 'river' ≠ 'bank' after 'money'.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577840" cy="10972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1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Speech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5029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Phonemes and words in speech recognition only make sense in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5577840" cy="10972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79475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Time series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51959"/>
            <a:ext cx="5029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Stock prices, sensors, weather: the value at t depends on earlier values.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47472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9360" y="3474720"/>
            <a:ext cx="5577840" cy="10972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379475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Molecules / music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51959"/>
            <a:ext cx="5029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Atoms in a compound or notes in a composition are recursive sequences.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A BROKEN ASSUMPTION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MLPs treat inputs as independent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5C26"/>
                </a:solidFill>
                <a:latin typeface="Calibri"/>
              </a:rPr>
              <a:t>Multilayer Perceptron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Each sample / feature is treated as independent.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There is no memory of the previous step.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Input length must be fixed.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Good for tabular data or static images; weak for sequences.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325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Recurrent Neural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Hidden state ht stores the essence of what has been seen so far.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ht = Φ(ht−1, xt)  — recursive back to the start of the sequence.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The same cell is reused (parameter sharing).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In principle, it can process sequences of arbitrary length.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THE BASIC RNN 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Hidden state as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91440" cy="14173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34440"/>
            <a:ext cx="10927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Recursive equation (notes, p.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90472"/>
            <a:ext cx="10927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h  =  Φ( h     ,  x  )
 t         t−1     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Calibri"/>
              </a:rPr>
              <a:t>h_t  =  Φ( h_{t−1} ,  x_t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889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7C7B"/>
                </a:solidFill>
                <a:latin typeface="Calibri"/>
              </a:rPr>
              <a:t>h_t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3246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Hidden state at time t — a summary of the sequence so far.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7889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29260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7C7B"/>
                </a:solidFill>
                <a:latin typeface="Calibri"/>
              </a:rPr>
              <a:t>h_{t−1}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474720"/>
            <a:ext cx="3246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Memory from the previous step; unfolds all the way back to h_0.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7889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7C7B"/>
                </a:solidFill>
                <a:latin typeface="Calibri"/>
              </a:rPr>
              <a:t>x_t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74720"/>
            <a:ext cx="3246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Input at step t: a token, a time sample, or a feature vector.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Because the equation is recursive, h_{t−1} = Φ(h_{t−2}, x_{t−1}), and so on. That is how an RNN encodes information from sequences that are, in principle, arbitrarily long.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FIGURE 5.1(A)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RNN cell, drawn graphically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11338560" cy="53528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Three weight matrices: U, V, and 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88720" cy="128016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88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389888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Input → hidden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828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Maps x_t into a contribution to memory.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0604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606040"/>
            <a:ext cx="1188720" cy="128016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88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807208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Hidden → hidden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4612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Transforms h_{t−1}. Source of vanishing/exploding gradients.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1188720" cy="128016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1188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224528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Hidden →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6634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Reads h_t into the prediction y_t.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FIGURE 5.1(B)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network unrolled over the full sequence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11430000" cy="504163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COMPUTATION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Forward pass of a SimpleRNN cell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471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91440" cy="19659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07008"/>
            <a:ext cx="10927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Internal equations (notes, p.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10927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h_t  =  tanh(  W h_{t−1}  +  U x_t  )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5A6577"/>
                </a:solidFill>
                <a:latin typeface="Calibri"/>
              </a:rPr>
              <a:t>y_t  =  V h_t     (then softmax if classifying tokens)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37560"/>
            <a:ext cx="3657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352044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tanh, not sigmoid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2461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More efficient to learn in practice and helps combat vanishing gradients.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337560"/>
            <a:ext cx="3657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8848" y="352044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Keras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4160520"/>
            <a:ext cx="32461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SimpleRNN is the cell above. Advanced variants: LSTM and GRU.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337560"/>
            <a:ext cx="3657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352044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Weight sharing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4160520"/>
            <a:ext cx="32461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The same operation is applied to different inputs at each 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Scalar RNN forward pass, 3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Assume 1-D values so the recursive chain is visible. U = 0.5, W = 0.8, V = 1.2, h_0 =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379476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Given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3474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C2333"/>
                </a:solidFill>
                <a:latin typeface="Consolas"/>
              </a:rPr>
              <a:t>x1 = 1.00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C2333"/>
                </a:solidFill>
                <a:latin typeface="Consolas"/>
              </a:rPr>
              <a:t>x2 = 0.50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C2333"/>
                </a:solidFill>
                <a:latin typeface="Consolas"/>
              </a:rPr>
              <a:t>x3 = −0.30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600" b="0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h_t = tanh(W h_{t−1} + U x_t)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y_t = V h_t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300" b="0" i="0">
              <a:solidFill>
                <a:srgbClr val="5A6577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tanh(z) = (e^z − e^{−z}) / (e^z + e^{−z})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736092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37160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Computation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828800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D5EDE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1234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Calibri"/>
              </a:rPr>
              <a:t>t =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40280"/>
            <a:ext cx="6858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h1 = tanh(0.8·0 + 0.5·1.00) = tanh(0.500) = 0.462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45C26"/>
                </a:solidFill>
                <a:latin typeface="Calibri"/>
              </a:rPr>
              <a:t>y1 = 1.2·0.462 = 0.555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154680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D5EDE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154680"/>
            <a:ext cx="1234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Calibri"/>
              </a:rPr>
              <a:t>t =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566160"/>
            <a:ext cx="6858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h2 = tanh(0.8·0.462 + 0.5·0.50) = tanh(0.620) = 0.551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45C26"/>
                </a:solidFill>
                <a:latin typeface="Calibri"/>
              </a:rPr>
              <a:t>y2 = 1.2·0.551 = 0.661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4480560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D5EDE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4480560"/>
            <a:ext cx="1234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Calibri"/>
              </a:rPr>
              <a:t>t =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892040"/>
            <a:ext cx="6858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h3 = tanh(0.8·0.551 + 0.5·(−0.30)) = tanh(0.291) = 0.283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45C26"/>
                </a:solidFill>
                <a:latin typeface="Calibri"/>
              </a:rPr>
              <a:t>y3 = 1.2·0.283 = 0.339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FIGURE 5.2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Backpropagation Through Time (BPTT)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11430000" cy="513141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BPTT chain rule at t =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Focus on W because the chain h_t → h_{t−1} → … causes vanishing/exploding.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12344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325880"/>
            <a:ext cx="10927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Decomposition (notes, p.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81912"/>
            <a:ext cx="10927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∂L₃/∂W  =  (∂L₃/∂y₃)  (∂y₃/∂h₃)  (∂h₃/∂W)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6916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2A47"/>
                </a:solidFill>
                <a:latin typeface="Calibri"/>
              </a:rPr>
              <a:t>∂L₃ / ∂W   =   (∂L₃ / ∂ŷ₃) · (∂ŷ₃ / ∂h₃) · (∂h₃ / ∂W)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51760"/>
            <a:ext cx="1124712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∂h₃/∂W still expands because h₃ depends on W both directly and through h₂, h₁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108813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C2333"/>
                </a:solidFill>
                <a:latin typeface="Calibri"/>
              </a:rPr>
              <a:t>∂h₃/∂W  =  ∂h₃/∂W |direct  +  (∂h₃/∂h₂)(∂h₂/∂W |direct)  +  (∂h₃/∂h₂)(∂h₂/∂h₁)(∂h₁/∂W)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500" b="1" i="0">
              <a:solidFill>
                <a:srgbClr val="1C2333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E7C7B"/>
                </a:solidFill>
                <a:latin typeface="Calibri"/>
              </a:rPr>
              <a:t>If |∂h_t / ∂h_{t−1}| = γ &lt; 1, the product γ^{t−k} shrinks toward 0  →  vanishing.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45C26"/>
                </a:solidFill>
                <a:latin typeface="Calibri"/>
              </a:rPr>
              <a:t>If |γ| &gt; 1, the product blows up to ∞ / NaN  →  exploding.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Total gradient:  ∂L/∂W = Σ_t ∂L_t/∂W   (summed over all time steps).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Vanishing vs exploding gradients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338560" cy="46786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Chain products and clipping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Vanishing: γ = 0.6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2120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2333"/>
                </a:solidFill>
                <a:latin typeface="Consolas"/>
              </a:rPr>
              <a:t>5 steps:    0.6^5  =  0.078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2333"/>
                </a:solidFill>
                <a:latin typeface="Consolas"/>
              </a:rPr>
              <a:t>10 steps:   0.6^10 =  0.00605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2333"/>
                </a:solidFill>
                <a:latin typeface="Consolas"/>
              </a:rPr>
              <a:t>20 steps:   0.6^20 =  3.66 × 10^−5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600" b="0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The signal from the start of the sequence almost disappears.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The RNN fails to learn long-range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5C26"/>
                </a:solidFill>
                <a:latin typeface="Calibri"/>
              </a:rPr>
              <a:t>Exploding: γ = 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0749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2333"/>
                </a:solidFill>
                <a:latin typeface="Consolas"/>
              </a:rPr>
              <a:t>5 steps:    1.5^5  =  7.59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2333"/>
                </a:solidFill>
                <a:latin typeface="Consolas"/>
              </a:rPr>
              <a:t>10 steps:   1.5^10 =  57.7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2333"/>
                </a:solidFill>
                <a:latin typeface="Consolas"/>
              </a:rPr>
              <a:t>20 steps:   1.5^20 ≈  3325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600" b="0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Gradients → NaN, training crashes. Easier to detect.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Control: clipvalue / clipnorm, or tf.clip_by_value.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What can we do about vanishing gradients?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Initialize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Initialize the hidden matrix so the singular-value spectrum stays near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Stronger regularization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Keep weight magnitudes in check so the chain product does not explode or collapse.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1887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83879" y="118872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59" y="146304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ReLU, not tanh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05740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ReLU derivative = 1 on the active region, reducing saturation.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6576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11480" y="365760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93192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Pretraining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2628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Pretrain layers unsupervised before labelled fine-tuning.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6576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97680" y="365760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393192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LSTM / GRU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52628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The most popular fix: gates designed for long-term dependencies.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6576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83879" y="365760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59" y="393192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Gradient clipping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452628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For exploding gradients: clip at clipvalue or clipnorm.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CELL VARIANT  ·  LSTM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Long Short-Term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C2333"/>
                </a:solidFill>
                <a:latin typeface="Calibri"/>
              </a:rPr>
              <a:t>•  SimpleRNN combines h_{t−1} and x_t through a single tanh layer.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C2333"/>
                </a:solidFill>
                <a:latin typeface="Calibri"/>
              </a:rPr>
              <a:t>•  LSTMs are also recurrent, but use four layers that interact in a specific way.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C2333"/>
                </a:solidFill>
                <a:latin typeface="Calibri"/>
              </a:rPr>
              <a:t>•  Drop-in replacement: swap SimpleRNN for LSTM with no architectural side effects; usually better results, longer training.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456" y="2606040"/>
            <a:ext cx="8292606" cy="38679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LSTM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Gate equations (Figure 5.3)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15568"/>
            <a:ext cx="128016" cy="77724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5C26"/>
                </a:solidFill>
                <a:latin typeface="Calibri"/>
              </a:rPr>
              <a:t>Forget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188720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333"/>
                </a:solidFill>
                <a:latin typeface="Calibri"/>
              </a:rPr>
              <a:t>f_t = σ(W_f x_t + U_f h_{t−1} + b_f)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188720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How much of c_{t−1} is allowed through.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84248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1984248"/>
            <a:ext cx="128016" cy="7772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057400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Input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057400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333"/>
                </a:solidFill>
                <a:latin typeface="Calibri"/>
              </a:rPr>
              <a:t>i_t = σ(W_i x_t + U_i h_{t−1} + b_i)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057400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How much of the new candidate is written.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52928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2852928"/>
            <a:ext cx="128016" cy="77724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Output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926080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333"/>
                </a:solidFill>
                <a:latin typeface="Calibri"/>
              </a:rPr>
              <a:t>o_t = σ(W_o x_t + U_o h_{t−1} + b_o)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926080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How much of the memory is exposed.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21607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3721607"/>
            <a:ext cx="128016" cy="77724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794759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Candidate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794759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333"/>
                </a:solidFill>
                <a:latin typeface="Calibri"/>
              </a:rPr>
              <a:t>g_t = tanh(W_g x_t + U_g h_{t−1} + b_g)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794759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New state — same form as SimpleRNN.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6344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80060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2A47"/>
                </a:solidFill>
                <a:latin typeface="Calibri"/>
              </a:rPr>
              <a:t>c_t = f_t ⊙ c_{t−1}  +  i_t ⊙ g_t          h_t = o_t ⊙ tanh(c_t)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Note: the PDF writes 'forget gate g' — it means the forget gate f. σ squeezes gate outputs to (0, 1) so they act as element-wise valves.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One scalar LSTM step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7772400" cy="335354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143000"/>
            <a:ext cx="35661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13258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σ and tanh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737360"/>
            <a:ext cx="3200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C2333"/>
                </a:solidFill>
                <a:latin typeface="Consolas"/>
              </a:rPr>
              <a:t>i: σ(0.47) = 0.615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C2333"/>
                </a:solidFill>
                <a:latin typeface="Consolas"/>
              </a:rPr>
              <a:t>f: σ(0.48) = 0.618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C2333"/>
                </a:solidFill>
                <a:latin typeface="Consolas"/>
              </a:rPr>
              <a:t>o: σ(0.31) = 0.577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C2333"/>
                </a:solidFill>
                <a:latin typeface="Consolas"/>
              </a:rPr>
              <a:t>g: tanh(0.50) = 0.462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300" b="0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E2A47"/>
                </a:solidFill>
                <a:latin typeface="Consolas"/>
              </a:rPr>
              <a:t>c = f·c_prev + i·g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C2333"/>
                </a:solidFill>
                <a:latin typeface="Consolas"/>
              </a:rPr>
              <a:t>  = 0.618·0.60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C2333"/>
                </a:solidFill>
                <a:latin typeface="Consolas"/>
              </a:rPr>
              <a:t>    + 0.615·0.462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45C26"/>
                </a:solidFill>
                <a:latin typeface="Consolas"/>
              </a:rPr>
              <a:t>  = 0.655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300" b="1" i="0">
              <a:solidFill>
                <a:srgbClr val="C45C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E2A47"/>
                </a:solidFill>
                <a:latin typeface="Consolas"/>
              </a:rPr>
              <a:t>h = o·tanh(c)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C2333"/>
                </a:solidFill>
                <a:latin typeface="Consolas"/>
              </a:rPr>
              <a:t>  = 0.577·0.575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45C26"/>
                </a:solidFill>
                <a:latin typeface="Consolas"/>
              </a:rPr>
              <a:t>  = 0.332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CELL VARIANT  · 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Gated Recurrent Unit: simpler, still vanishing-resistant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0300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One scalar GRU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x_t = 0.50,  h_{t−1} = 0.40.  Illustrative weights: all W = 0.5, U = 0.4, bias =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13716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325880"/>
            <a:ext cx="10927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Computation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81912"/>
            <a:ext cx="10927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z and r use sigmoid; candidate c uses tanh; h_t interpolates between h_{t−1} and 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6916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A47"/>
                </a:solidFill>
                <a:latin typeface="Calibri"/>
              </a:rPr>
              <a:t>z_t = σ(W_z x_t + U_z h_{t−1})     r_t = σ(W_r x_t + U_r h_{t−1})     h_t = z_t⊙h_{t−1} + (1−z_t)⊙c_t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036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" y="2880360"/>
            <a:ext cx="2788920" cy="457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1. Update 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474720"/>
            <a:ext cx="2560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onsolas"/>
              </a:rPr>
              <a:t>z = σ(0.5·0.50 + 0.4·0.40)
= σ(0.410) = 0.601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88036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83280" y="2880360"/>
            <a:ext cx="2788920" cy="457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0" y="2880360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2. Reset 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3474720"/>
            <a:ext cx="2560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onsolas"/>
              </a:rPr>
              <a:t>r = σ(0.5·0.50 + 0.4·0.40)
= σ(0.410) = 0.601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88036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9360" y="2880360"/>
            <a:ext cx="2788920" cy="457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2880360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3. Candidate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74720"/>
            <a:ext cx="2560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onsolas"/>
              </a:rPr>
              <a:t>c = tanh(0.5·0.50 + 0.4·(r·h))
= tanh(0.346) = 0.333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88036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235440" y="2880360"/>
            <a:ext cx="2788920" cy="45720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5440" y="2880360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4. New hidden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3474720"/>
            <a:ext cx="2560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onsolas"/>
              </a:rPr>
              <a:t>h = z·h_prev + (1−z)·c
= 0.601·0.40 + 0.399·0.333
= 0.373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CELL VARIANT  ·  PEEPHOLE LSTM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Gates may 'peek' at the cell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881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2333"/>
                </a:solidFill>
                <a:latin typeface="Calibri"/>
              </a:rPr>
              <a:t>The only difference from a standard LSTM: an extra + p ⊙ c_{t−1} term on gates i, f, o.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0E2A47"/>
                </a:solidFill>
                <a:latin typeface="Calibri"/>
              </a:rPr>
              <a:t>i_t = σ(W_i x_t + U_i h_{t−1} + P_i c_{t−1})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A6577"/>
                </a:solidFill>
                <a:latin typeface="Calibri"/>
              </a:rPr>
              <a:t>f_t and o_t are analogous; g_t and the c_t / h_t updates stay the same.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11247120" cy="2468880"/>
          </a:xfrm>
          <a:prstGeom prst="roundRect">
            <a:avLst>
              <a:gd name="adj" fmla="val 8000"/>
            </a:avLst>
          </a:prstGeom>
          <a:solidFill>
            <a:srgbClr val="1B2433"/>
          </a:solidFill>
          <a:ln w="12700">
            <a:solidFill>
              <a:srgbClr val="1B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10881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TensorFlow 2 — wrap the experimental cell in an RNN wrapper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7EE0C8"/>
                </a:solidFill>
                <a:latin typeface="Consolas"/>
              </a:rPr>
              <a:t>cell = tf.keras.experimental.PeepholeLSTMCell(units=128)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</a:rPr>
              <a:t>layer = tf.keras.layers.RNN(cell, return_sequences=True)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B9CB0"/>
                </a:solidFill>
                <a:latin typeface="Consolas"/>
              </a:rPr>
              <a:t># or a list of cells inside RNN(...)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ARCHITECTURE 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Bidirectional RNN / biLSTM (Figure 5.4)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48178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ARCHITECTURE 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Stateful RNN: memory across batches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6235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5623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Stateless (Keras 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State is reset after every batch.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Safe if batches are shuffled.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No context is carried between chunks.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43000"/>
            <a:ext cx="56235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43000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143000"/>
            <a:ext cx="5623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Stateful =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h from batch n becomes the initial h of batch n+1.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The network can build state across the training sequence.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State can also be kept at prediction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89120"/>
            <a:ext cx="11247120" cy="169164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526280"/>
            <a:ext cx="10881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Practical consequences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Benefit: smaller networks and/or shorter training. Cost: batch size must reflect the data period, reset state after each epoch, and do not shuffle — order matters.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FIGURE 5.5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Five RNN input–output topologies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11704320" cy="37848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READING THE TOPOLOGIES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When to use which?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15568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One-to-one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115568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E2A47"/>
                </a:solidFill>
                <a:latin typeface="Calibri"/>
              </a:rPr>
              <a:t>1 tensor → 1 tensor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115568"/>
            <a:ext cx="4389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Not sequence processing; a dense net is enough.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0312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One-to-many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103120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E2A47"/>
                </a:solidFill>
                <a:latin typeface="Calibri"/>
              </a:rPr>
              <a:t>1 tensor → 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103120"/>
            <a:ext cx="4389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Text tags from images; image captioning.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90672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090672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Many-to-one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090672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E2A47"/>
                </a:solidFill>
                <a:latin typeface="Calibri"/>
              </a:rPr>
              <a:t>sequence → 1 tensor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090672"/>
            <a:ext cx="4389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Sentiment analysis of a movie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78224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78224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Many-to-many seq2seq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078224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E2A47"/>
                </a:solidFill>
                <a:latin typeface="Calibri"/>
              </a:rPr>
              <a:t>sequence → context → 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078224"/>
            <a:ext cx="4389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Machine translation; tasks framed as translation. Encoding must finish first.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65776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065776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Many-to-many aligned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065776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E2A47"/>
                </a:solidFill>
                <a:latin typeface="Calibri"/>
              </a:rPr>
              <a:t>one output cell per input cell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065776"/>
            <a:ext cx="4389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1:1 time series. Decoding can start before encoding finishes.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MANY-TO-MANY · SEQ2SEQ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Sequence-to-sequence (notes, p. 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The more popular many-to-many : read a sequence, compress it to a context vector, then write a new sequence.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1. Encode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32461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An encoder RNN reads x1 … xT. The last hidden state (or a function of all h) becomes the context vector c that represents the whole input.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2588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32588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2. Context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965960"/>
            <a:ext cx="32461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c is a fixed-size bridge. Source and target lengths need not match — ideal for translation and any task that can be framed as translation.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38160" y="132588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132588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3. Decode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65960"/>
            <a:ext cx="32461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A decoder RNN is initialized from c, then emits y1, y2, … until an end token. Each step uses the previous output.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5488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10881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Typical tasks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Machine translation (je suis → I am), summarization, chatbots, and any problem that can be rewritten as “source sequence → target sequence”.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SEQ2SEQ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Encoder → context vector → decoder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51560"/>
            <a:ext cx="11704320" cy="509791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TWO MANY-TO-MANY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key difference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7680960" cy="2848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92440" y="114300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32588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What differs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78308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Seq2Seq: the input must be fully encoded before decoding begins.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Aligned: each input cell has an output cell; decoding may overlap.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Seq2Seq allows different lengths and word reordering.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Aligned fits 1:1 time series (e.g. per-step labels).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c is a bottleneck: the whole source is squeezed into one fixed vector.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SEQ2SEQ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Scalar translation:  je suis  →  I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Encoder and decoder use U = 0.5, W = 0.8.  h0 = 0.  Context c = last encoder hidden.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56692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Encoder  (read source)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349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x_je = 1.00    x_suis = 0.50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h = tanh(W h_prev + U x)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400" b="0" i="0">
              <a:solidFill>
                <a:srgbClr val="5A6577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h1 = tanh(0.8·0 + 0.5·1.00)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   = tanh(0.500) = 0.462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h2 = tanh(0.8·0.462 + 0.5·0.50)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   = tanh(0.620) = 0.551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400" b="0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45C26"/>
                </a:solidFill>
                <a:latin typeface="Consolas"/>
              </a:rPr>
              <a:t>c  = h2 = 0.551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all of 'je suis' is compressed into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48640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Decoder  (write target)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166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s0 = c = 0.551    SOS = 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s1 = tanh(0.8·0.551 + 0.5·0)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   = tanh(0.441) = 0.414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400" b="0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illustrative logits:  z_I=1.80,  z_am=0.40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45C26"/>
                </a:solidFill>
                <a:latin typeface="Consolas"/>
              </a:rPr>
              <a:t>P(I)  = e^1.80 / (e^1.80+e^0.40) = 0.802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E2A47"/>
                </a:solidFill>
                <a:latin typeface="Consolas"/>
              </a:rPr>
              <a:t>P(am) = 0.198   →  emit “I”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300" b="1" i="0">
              <a:solidFill>
                <a:srgbClr val="0E2A47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Teacher-force e_I = 1.00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s2 = tanh(0.8·0.414 + 0.5·1)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   = tanh(0.831) = 0.681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DATA PROCESSING  ·  RNN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Next-character: from a string to a (batch, T) tensor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Example follows the notes' case study: character windows with the target shifted by 1.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15568"/>
            <a:ext cx="11750040" cy="517640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DATA PROCESSING  ·  LSTM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Many-to-one sentiment: tokenize, pad, take h_last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Three movie reviews. Variable length is padded to T=4 with &lt;pad&gt;. The class is read from the last hidden state.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15568"/>
            <a:ext cx="11750040" cy="517640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DATA PROCESSING  ·  SEQ2SEQ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Parallel translation: encoder X, decoder in, decoder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Two FR→EN pairs. The target is shifted +1 for teacher forcing. &lt;pad&gt; is excluded from the loss.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78992"/>
            <a:ext cx="11750040" cy="522297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END-TO-END FLOW  ·  RNN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8 stages: raw text → predicted characters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Example: “Alice”  →  X=[A,l,i,c]  →  output “l i c e”. Aligned many-to-many.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78992"/>
            <a:ext cx="11932920" cy="527877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END-TO-END FLOW  ·  LSTM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8 stages: review → sentiment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Example: “not good”, y=0. Many-to-one: read the whole sequence, one output from h_last.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78992"/>
            <a:ext cx="11932920" cy="527877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END-TO-END FLOW  ·  SEQ2SEQ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8 stages: parallel pair → translated sequence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Example: je suis etudiant → I am a student. Encoding finishes before decoding starts.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78992"/>
            <a:ext cx="11932920" cy="527877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One-to-many: learning to generate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Two Project Gutenberg novels. Generation prefix: “Alice”.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30000" cy="3819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07492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Input: 100 characters. Target: 100 characters shifted by 1 position. Train for 50 epochs; after every epoch generate a sequence with prefix “Alice”. Checkpoint every 10 epochs to CHECKPOINT_DIR.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From characters to batched tensors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822960" cy="10789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28016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Download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4592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tf.keras.utils.get_file() from Project Gutenberg; strip newlines and BOM.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0008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350008"/>
            <a:ext cx="822960" cy="10789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350008"/>
            <a:ext cx="82296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48716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Vocabulary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5292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90 unique characters: letters, digits, symbols. Build char↔int maps.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57016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3557016"/>
            <a:ext cx="822960" cy="10789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557016"/>
            <a:ext cx="82296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694176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Windows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059936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Batch 101-character slices, then split_train_labels() → pairs of length (100, 100).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64024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4764024"/>
            <a:ext cx="822960" cy="10789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764024"/>
            <a:ext cx="82296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90118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Batches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266944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Shuffle sequences, batch size 64. Each element: two (64, 100) matrices of tf.int64.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MODEL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Embedding → stateful GRU → Dense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143000"/>
            <a:ext cx="8869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45920" y="1143000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25272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onsolas"/>
              </a:rPr>
              <a:t>(64, 100)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4592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Integer sequence, num_timesteps = 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2240280"/>
            <a:ext cx="8869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645920" y="2240280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224028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35000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onsolas"/>
              </a:rPr>
              <a:t>(64, 100, 256)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74320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Each integer → a vector of embedding_dim = 256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3337560"/>
            <a:ext cx="8869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645920" y="3337560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5920" y="333756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GRU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44728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onsolas"/>
              </a:rPr>
              <a:t>(64, 100, 1024)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8404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stateful=True, return_sequences=True, rnn_output_dim = 1024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4434840"/>
            <a:ext cx="8869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645920" y="4434840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45920" y="443484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54456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onsolas"/>
              </a:rPr>
              <a:t>(64, 100, 90)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937759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Logits per position; vocab_size = 90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LOSS &amp;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Sparse CCE, Adam, and random sampling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6235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•  Standard loss for integer sequences: sparse categorical cross-entropy.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•  Optimizer: Adam.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•  50 epochs; generate text every 10 epochs.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•  Weights are saved, then a separate generative model is built with batch size = 1 so a single prefix “Alice” can be used.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•  Because the model is stateful, call reset_states() before prediction so training hidden state does not leak.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4406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5C26"/>
                </a:solidFill>
                <a:latin typeface="Calibri"/>
              </a:rPr>
              <a:t>Decoding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•  Pure argmax often produces repetitive text.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•  Two common fixes: random sampling, or beam search (take the k most probable values).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•  The notes use tf.random.categorical().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•  Temperature T: divide logits by T before softmax. Small T → more predictable; large T → more random.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Softmax with temperature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Suppose 3 character logits after the prefix “Alice”:  e=2.0,  a=1.0,  space=0.1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7589520" cy="271589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01000" y="1234440"/>
            <a:ext cx="3749039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371600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783080"/>
            <a:ext cx="34290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p_i = exp(z_i / 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        / Σ_j exp(z_j / 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endParaRPr sz="1500" b="1" i="0">
              <a:solidFill>
                <a:srgbClr val="0E2A47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0E7C7B"/>
                </a:solidFill>
                <a:latin typeface="Consolas"/>
              </a:rPr>
              <a:t>T = 0.5 → P(e) = 0.864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C9A227"/>
                </a:solidFill>
                <a:latin typeface="Consolas"/>
              </a:rPr>
              <a:t>T = 1.0 → P(e) = 0.659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C45C26"/>
                </a:solidFill>
                <a:latin typeface="Consolas"/>
              </a:rPr>
              <a:t>T = 2.0 → P(e) = 0.502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endParaRPr sz="1300" b="1" i="0">
              <a:solidFill>
                <a:srgbClr val="C45C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T ↓  the distribution locks onto the most likely token.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T ↑  the model is willing to pick less likely tokens — reducing repetition.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What should stick after this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35331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Recursive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901952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h_t = Φ(h_{t−1}, x_t) encodes a sequence through shared U, V, 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7043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35331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BPTT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901952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Gradients are summed over time. The product |∂h_t/∂h_{t−1}| &lt; 1 or &gt; 1 decides vanishing/exploding.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17043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8" y="135331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901952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LSTM (i, f, o, g + cell state) and GRU (z, r) preserve long-range dependencies.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3931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Topologies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370832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Choose one-to-many, many-to-one, seq2seq (context vector), or aligned to match the task.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63931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8848" y="382219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TF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370832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stateful, bidirectional wrapper, clipvalue, sparse CCE, temperature sampling.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63931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85048" y="382219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Character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4370832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Window 100, offset 1, GRU 1024, vocab 90, prefix “Alice”.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60196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5  ·  Recurrent Neural 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Two sources named in the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C5D0DC"/>
                </a:solidFill>
                <a:latin typeface="Calibri"/>
              </a:rPr>
              <a:t>WildML RNN tutorial — covers LSTMs in greater detail.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C5D0DC"/>
                </a:solidFill>
                <a:latin typeface="Calibri"/>
              </a:rPr>
              <a:t>Christopher Olah, Understanding LSTM Networks — a visual, step-by-step walkthrough.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7EE0C8"/>
                </a:solidFill>
                <a:latin typeface="Calibri"/>
              </a:rPr>
              <a:t>Chapter code: https://packt.link/dltfchp5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TLM Deep Learning · Session 5 · Recurrent Neural Network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B0C0"/>
                </a:solidFill>
                <a:latin typeface="Calibri"/>
              </a:rPr>
              <a:t>Based on Deep Learning TLM session 5.pdf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4048</Words>
  <Application>Microsoft Office PowerPoint</Application>
  <PresentationFormat>Widescreen</PresentationFormat>
  <Paragraphs>497</Paragraphs>
  <Slides>42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DAVID AGUSTRIAWAN (083674)</cp:lastModifiedBy>
  <cp:revision>4</cp:revision>
  <dcterms:created xsi:type="dcterms:W3CDTF">2013-01-27T09:14:16Z</dcterms:created>
  <dcterms:modified xsi:type="dcterms:W3CDTF">2026-09-28T05:25:28Z</dcterms:modified>
  <cp:category/>
</cp:coreProperties>
</file>