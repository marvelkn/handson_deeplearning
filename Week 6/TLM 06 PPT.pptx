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141" autoAdjust="0"/>
  </p:normalViewPr>
  <p:slideViewPr>
    <p:cSldViewPr snapToGrid="0" snapToObjects="1">
      <p:cViewPr varScale="1">
        <p:scale>
          <a:sx n="54" d="100"/>
          <a:sy n="54" d="100"/>
        </p:scale>
        <p:origin x="112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97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by contrasting Session 5 RNNs with the 2017 transformer: attention replaces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blocks matching Chapter 6 of the TLM notes, plus worked numerical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p.1: also query understanding, offensive-message detection, reading comprehension. AlphaStar used attention in 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Stress: the original transformer is still an encoder–decoder. Recurrence is gone; attention is the mixer.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conceptual hinge of the session. Draw path-length O(n) vs O(1) on the board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Same: source/target sequences, encoder–decoder, last encoder state used as context, dense+softmax. Different: recurrence gone; encoder state goes to EVERY decoder block; PE needed because of parallelism.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 numbers from the paper / notes: N=6, h=8, d_model=512, d_k=d_v=64, d_ff=2048. Decoder has THREE sublayers per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Low dimensions oscillate slowly (long-range), high dimensions oscillate fast (local). Even/odd channels are a sine/cosine pair so the model can learn relative shifts.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Then x_pos = embedding + PE. In the paper this sum is the actual encoder input. Angles are in radians.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Attention from i to j is not equal to attention from j to i. The notes emphasise this asymmetry.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Reference: d_model=512, h=8, d_k=d_v=64. Parameter sharing is across positions, not across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sat is aligned with both axes, so sat·sat = 2 — the strongest raw score. That will survive softmax.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other rows: z_The=[0.802, 0.797], z_cat=[0.599, 1.203]. Each output is a blend of all values, weighted by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one more row on the board if time: k_The = x_The W_K. Then you are back at example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entire reason for the word “scaled” in scaled dot-product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Heads do not share W_Q/W_K/W_V. In code they are one fat multiply split along the last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implementation: to predict token 3, only tokens 1 and 2 are used. Padding masks are a second, independent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 0 can only attend to itself. That is teacher-forcing-safe causal 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Also listed: full vs sparse attention, LSH, local, encoder pretraining vs encoder–decoder pretraining, Switch, RETRO, Pathways/PaLM, LaMDA.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Teacher forcing at train time: feed the gold previous token. At test time: feed the model’s own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with: when is an encoder enough (BERT), when a decoder (GPT), when the full stack (T5 / translation)?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TEACHING LEARNING MATERIAL  · 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5EDEC"/>
                </a:solidFill>
                <a:latin typeface="Calibri"/>
              </a:rPr>
              <a:t>Session 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Transformers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5D0DC"/>
                </a:solidFill>
                <a:latin typeface="Calibri"/>
              </a:rPr>
              <a:t>From positional encoding and scaled dot-product attention, through the
encoder–decoder stack, to hand calculations and the Portuguese–English case study.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206240"/>
            <a:ext cx="1691640" cy="365760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1691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4206240"/>
            <a:ext cx="1965960" cy="365760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42062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Self-attention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206240"/>
            <a:ext cx="1874519" cy="365760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4206240"/>
            <a:ext cx="187451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Multi-head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06240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420624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Positional encoding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4206240"/>
            <a:ext cx="1783080" cy="365760"/>
          </a:xfrm>
          <a:prstGeom prst="roundRect">
            <a:avLst>
              <a:gd name="adj" fmla="val 8000"/>
            </a:avLst>
          </a:prstGeom>
          <a:solidFill>
            <a:srgbClr val="16365C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420624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Q, K,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436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B0C0"/>
                </a:solidFill>
                <a:latin typeface="Calibri"/>
              </a:rPr>
              <a:t>Source: Deep Learning TLM session 6.docx  ·  Chapter 6  ·  Vaswani et al., 2017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SESSION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What we will 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27101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Why Transformers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00200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NLP tasks, the 2017 paper, and what RNNs could not encode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30552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130552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3055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585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Architecture, deeply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87752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Encoder, decoder, residual highway, positional encoding, FFN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18104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3118104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1810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24612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Attention by hand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75304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Q, K, V, scaled dots, softmax, multi-head, causal mask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05656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4105656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056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3367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Training &amp; families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562856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Pretrain / fine-tune, BERT–GPT–T5, sparse and long-context variants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93208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7200" y="5093208"/>
            <a:ext cx="868680" cy="86868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093208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21224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550408"/>
            <a:ext cx="9784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Portuguese → English translation: tokenize, mask, train, decode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Transformers became almost universal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The notes list the tasks that the architecture now dominates — far beyond translation.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3619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Machine translation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93391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Seq2seq with no recurrent bottleneck.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53619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Summarization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93391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Long source, shorter target — encoder–decoder.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8016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9" y="153619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Text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993391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Decoder-only LMs: GPT family.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2608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1480" y="292608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18211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Named entity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639312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Token-level labels from bidirectional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92608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97680" y="292608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18211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Question answering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639312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Read a passage, attend to the span.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292608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183879" y="292608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59" y="318211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Classification / sentiment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639312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Pool the encoder, then a small head.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57200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11480" y="457200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482803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Similarity &amp; paraphrasing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285232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Shared encoder, compare embeddings.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57200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297680" y="457200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0" y="482803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Language modelling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285232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Next-token and next-sentence objectives.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4572000"/>
            <a:ext cx="37033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183879" y="4572000"/>
            <a:ext cx="3703320" cy="9144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66759" y="482803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Speech, vision, proteins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59" y="5285232"/>
            <a:ext cx="3337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Any data that can be a sequence of tokens.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THE 2017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“Attention Is All You Need”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Google Research, Vaswani et al. — the paper that reset thirty years of NLP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6235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5C26"/>
                </a:solidFill>
                <a:latin typeface="Calibri"/>
              </a:rPr>
              <a:t>What it replaced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Recurrent layers as the default sequence model.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Left-to-right (or bidirectional) hidden-state chains.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The sequential bottleneck: step t cannot start before t−1 finishes.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Pairwise word correlations that LSTMs could not reliably encode over long distances.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What it introduced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Self-attention in place of recurrence.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Positional encoding so order is not lost.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Multi-head attention: many definitions of “relevant”.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A stack of identical blocks with residual + LayerNorm.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Full parallelism over the sequence on GPU / TPU.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FOUR KEY IDEAS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transformer recipe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15568"/>
            <a:ext cx="1097280" cy="115214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097280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243584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Positional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62763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Each token is paired with a number (or a sinusoid) that marks its place. The model can then learn that order matters.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95728"/>
            <a:ext cx="1124712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395728"/>
            <a:ext cx="1097280" cy="1152144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395728"/>
            <a:ext cx="1097280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23744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90779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A learned heatmap of how every target word looks at every source word — including off-diagonal alignments such as européenne → European + Economic.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75887"/>
            <a:ext cx="1124712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3675887"/>
            <a:ext cx="1097280" cy="1152144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75887"/>
            <a:ext cx="1097280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803903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Self-attention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8795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same mechanism inside one sentence. “server” in a restaurant is not “server” after crashed.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56047"/>
            <a:ext cx="11247120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4956047"/>
            <a:ext cx="1097280" cy="1152144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956047"/>
            <a:ext cx="1097280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084063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Multi-head 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468111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Several sets of W_Q, W_K, W_V run in parallel. Each head is a different definition of relevance, computed at once on accelerators.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THE PROBLEM THEY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Pairwise correlations over long range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6235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5C26"/>
                </a:solidFill>
                <a:latin typeface="Calibri"/>
              </a:rPr>
              <a:t>What an LSTM actually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Compresses the past into a single hidden / cell state.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Information from token 1 must survive every gate until token n.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That is a sequential information bottleneck.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Attention (Bahdanau 2014) already helped — but still sat on top of an RNN.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The notes: LSTMs could not encode pairwise correlations across a sentence.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44068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What self-attention does instead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Every token may look at every other token in one step.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Path length between any pair is O(1), not O(n).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The mixer is a matrix multiply: QKᵀ, then a weighted sum of V.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No recurrence → the whole sequence is encoded in parallel.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Cost: O(n² · d). Fine for sentences; painful for books — hence later sparse variants.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FIGURE 6.2  · 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Seq2Seq + attention  versus  the Transformer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12880" cy="525307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READING FIGURE 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What is shared, and what actually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6235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Same as seq2seq +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Works with a source sequence and a target sequence.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Encoder–decoder skeleton.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The last encoder block is a context / “thought” representation.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Target embeddings go through a dense layer to integer / vocab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44068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5C26"/>
                </a:solidFill>
                <a:latin typeface="Calibri"/>
              </a:rPr>
              <a:t>Where the Transformer diverges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RNN layers are replaced by transformer blocks.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Encoder: multi-head self-attention + position-wise FFN.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Decoder: masked self-attention + cross-attention + FFN.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Encoder memory is sent to every decoder block, not only the first step.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Because time is now parallel, positional encoding is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DEEP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original encoder–decoder, unpacked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64" y="1024128"/>
            <a:ext cx="9510990" cy="54498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ENCODER, DEEPLY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A bidirectional mixer — no future to hide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goes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3291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Token IDs → embedding (512) + sinusoidal PE. The entire source is consumed at once. There is no left-to-right hidden-state walk.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97680" y="114300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1430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What each block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291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Self-attention lets every source token re-read every other source token. The FFN then applies the same MLP to each position independently.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4300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3879" y="114300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1430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comes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783080"/>
            <a:ext cx="3291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A sequence of contextual embeddings — the encoder memory. It is projected to K and V and broadcast to every decoder block.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389120"/>
            <a:ext cx="11384280" cy="173736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Insight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encoder is permutation-equivariant without PE: shuffle the tokens, the outputs shuffle the same way. Position is not “known” — it is added. That is why the first encoder input is embedding + PE, not embedding alone.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DECODER, DEEPLY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Three sublayers, two kinds of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128016" cy="120700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5272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45C26"/>
                </a:solidFill>
                <a:latin typeface="Calibri"/>
              </a:rPr>
              <a:t>1  Masked self-attention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target prefix attends only to itself. Look-ahead masking sets future scores to −∞ so the model cannot cheat by reading the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112471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128016" cy="120700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57860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C7B"/>
                </a:solidFill>
                <a:latin typeface="Calibri"/>
              </a:rPr>
              <a:t>2  Cross-attention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Q comes from the decoder; K and V come from the encoder memory. This is how “étudiant” is read while the model writes “student”.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1124712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128016" cy="120700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90448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9A227"/>
                </a:solidFill>
                <a:latin typeface="Calibri"/>
              </a:rPr>
              <a:t>3  Position-wise FFN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106070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same two-layer MLP (d_model → 2048 → d_model, ReLU) runs on every position. It is the block’s “thinking”, after attention has routed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Generation is still autoregressive: one token at a time, feeding the previous output back. Encoding is parallel; decoding is a loop. The notes are explicit about this split.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ADD &amp; NORM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residual highway is the real communication channel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26" y="1078992"/>
            <a:ext cx="6186267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456432"/>
            <a:ext cx="37033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3611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Why residual?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4041648"/>
            <a:ext cx="3383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Each sublayer only writes a delta. The original signal — and a gradient of 1 — still flows. That is how we stack N = 6 blocks without the vanishing that killed deep RNNs.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456432"/>
            <a:ext cx="37033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3611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Why LayerNorm?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4041648"/>
            <a:ext cx="3383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Stabilises the scale of the residual stream so attention logits stay in a trainable range. Notes: residual + norm after both MHA and FFN.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56432"/>
            <a:ext cx="37033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3611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Modern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4041648"/>
            <a:ext cx="3383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The 2017 paper is post-norm: LN(x + Sublayer(x)). Many later LMs use pre-norm: x + Sublayer(LN(x)), which trains more stably at depth.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POSITIONAL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Order has to be injected — attention does not see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0835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Notes example:  [(“Transformer”, 1), (“took”, 2), (“NLP”, 3), (“by”, 4), (“storm”, 5)]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Without position, self-attention is a bag of words. “The cat sat on the mat” would be indistinguishable from any permutation of the same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Absolute (original)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383280"/>
            <a:ext cx="33375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A fixed sinusoid, no learned parameters, added to the embedding. Extrapolates to lengths not seen in training — in theory.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78892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97680" y="278892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2A47"/>
                </a:solidFill>
                <a:latin typeface="Calibri"/>
              </a:rPr>
              <a:t>Relative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383280"/>
            <a:ext cx="33375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Encode distances i−j instead of absolute i. Better for “the word two seats to the left”.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78892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38160" y="2788920"/>
            <a:ext cx="3657600" cy="45720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Rotary (RoPE)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383280"/>
            <a:ext cx="33375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Rotate Q and K by an angle that depends on position. Used in most modern LMs. The notes already flag this lineage.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SINUSOIDAL 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formula from the original paper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91440" cy="14173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10899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No learned parameters  ·  added, not concatenated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99616"/>
            <a:ext cx="10899648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PE(pos, 2i)     =   sin(  pos  /  10000^{2i / d_model}  )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PE(pos, 2i+1)  =   cos(  pos  /  10000^{2i / d_model}  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63" y="2697480"/>
            <a:ext cx="9972193" cy="3703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Positional encoding by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Use d_model = 4 so every term is computable. Positions 0, 1, 2. Angles in radians.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07008"/>
            <a:ext cx="1124712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91440" cy="135331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298448"/>
            <a:ext cx="10899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Wavelengths, then the 4-D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91056"/>
            <a:ext cx="10899648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i = 0  →  10000^{0} = 1          i = 1  →  10000^{2/4} = 100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2A47"/>
                </a:solidFill>
                <a:latin typeface="Calibri"/>
              </a:rPr>
              <a:t>PE(pos)  =  [ sin(pos/1) ,  cos(pos/1) ,  sin(pos/100) ,  cos(pos/100)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24912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724912"/>
            <a:ext cx="1554480" cy="10789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724912"/>
            <a:ext cx="155448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pos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852928"/>
            <a:ext cx="9235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sin 0 = 0.000    cos 0 = 1.000    sin 0 = 0.000    cos 0 = 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55264"/>
            <a:ext cx="9235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onsolas"/>
              </a:rPr>
              <a:t>[  0.000 ,  1.000 ,  0.000 ,  1.000 ]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2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3913632"/>
            <a:ext cx="1554480" cy="10789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913632"/>
            <a:ext cx="155448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pos 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041648"/>
            <a:ext cx="9235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sin 1 = 0.841    cos 1 = 0.540    sin 0.01 = 0.010    cos 0.01 = 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443984"/>
            <a:ext cx="9235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onsolas"/>
              </a:rPr>
              <a:t>[  0.841 ,  0.540 ,  0.010 ,  1.000 ]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02352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5102352"/>
            <a:ext cx="1554480" cy="1078992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102352"/>
            <a:ext cx="155448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pos =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230368"/>
            <a:ext cx="9235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sin 2 = 0.909    cos 2 = −0.416    sin 0.02 = 0.020    cos 0.02 = 0.9998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632704"/>
            <a:ext cx="9235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Consolas"/>
              </a:rPr>
              <a:t>[  0.909 , −0.416 ,  0.020 ,  1.000 ]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ATTENTION BEFORE TRANSFORMERS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Bahdanau alignment  ·  notes Figure 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“The agreement on the European Economic Area was signed in August 1992.”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680960" cy="442129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234440"/>
            <a:ext cx="36576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4173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What to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Most mass sits on the diagonal: word-to-word translation.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européenne looks at both European and Economic — alignment is not 1-to-1.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The network learned this heatmap with no alignment labels.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This 2014 idea is the ancestor. The Transformer made attention the whole architecture.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SELF-ATTENTION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same word, two sentences, two meanings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Notes example. Attention can reach any token in the source; self-attention does that inside one sequence.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783" y="1188720"/>
            <a:ext cx="9477952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4956048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102352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Self-attention (Cheng / LSTMN 2016, popularised in 2017) trains the network to learn relationships among all words in the input, irrespective of distance, before any translation happens.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THE THREE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Query, key, and value are not three copies of the word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939" y="1078992"/>
            <a:ext cx="6965640" cy="3017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4279392"/>
            <a:ext cx="370332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4407408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Query  q_i = x_i W_Q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4864608"/>
            <a:ext cx="3383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The word we are standing on. “What am I looking for in the rest of the sentence?”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279392"/>
            <a:ext cx="370332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4407408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Key  k_j = x_j W_K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4864608"/>
            <a:ext cx="3383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Every word’s advertisement. “Here is the kind of content I hold.” The dot q·k is similarity.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279392"/>
            <a:ext cx="3703320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4407408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Value  v_j = x_j W_V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4864608"/>
            <a:ext cx="3383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The payload that actually gets mixed. High attention on j means more of v_j is written into 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LEARNED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Three matrices per head, plus W_O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43000"/>
            <a:ext cx="1371600" cy="111556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3716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W_Q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307592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onsolas"/>
              </a:rPr>
              <a:t>d_model × d_k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32588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Projects the residual stream into query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377440"/>
            <a:ext cx="1371600" cy="111556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377440"/>
            <a:ext cx="13716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E2A47"/>
                </a:solidFill>
                <a:latin typeface="Calibri"/>
              </a:rPr>
              <a:t>W_K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542032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onsolas"/>
              </a:rPr>
              <a:t>d_model × d_k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56032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Projects into key space. Training aligns q_i with k_j when i should read j.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3611880"/>
            <a:ext cx="1371600" cy="111556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13716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W_V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776472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onsolas"/>
              </a:rPr>
              <a:t>d_model × d_v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79476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Projects into value space — the information that will be copied.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1371600" cy="1115568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13716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W_O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10912"/>
            <a:ext cx="3108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onsolas"/>
              </a:rPr>
              <a:t>h d_v × d_model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02920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After concat of h heads, maps back to the residual stream.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THE CENTRAL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Scaled dot-product attention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761" y="1078992"/>
            <a:ext cx="6579997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401568"/>
            <a:ext cx="112471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3401568"/>
            <a:ext cx="91440" cy="278892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3493008"/>
            <a:ext cx="10899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Vaswani et al.  ·  notes “How to compute attention”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6"/>
            <a:ext cx="10899648" cy="2276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2A47"/>
                </a:solidFill>
                <a:latin typeface="Calibri"/>
              </a:rPr>
              <a:t>Attention(Q, K, V)   =   softmax(  Q Kᵀ  /  √d_k  )   V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577"/>
                </a:solidFill>
                <a:latin typeface="Calibri"/>
              </a:rPr>
              <a:t>a_ij = q_i · k_j     then ÷ √d_k     then softmax over j     then Σ_j α_ij v_j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Q, K, V are n × d_k matrices. One GEMM gives every pairwise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A 3-token sentence, d_k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Tokens:  The   cat   sat.   We start from already-projected Q, K, V so the arithmetic stays on one slide.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37947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4747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A6577"/>
                </a:solidFill>
                <a:latin typeface="Consolas"/>
              </a:rPr>
              <a:t>Q = K =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The  [ 1.0 ,  0.0 ]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cat  [ 0.0 ,  1.0 ]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sat  [ 1.0 ,  1.0 ]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5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A6577"/>
                </a:solidFill>
                <a:latin typeface="Consolas"/>
              </a:rPr>
              <a:t>V =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The  [ 1.0 ,  0.0 ]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cat  [ 0.0 ,  2.0 ]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sat  [ 1.0 ,  1.0 ]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5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45C26"/>
                </a:solidFill>
                <a:latin typeface="Consolas"/>
              </a:rPr>
              <a:t>√d_k = √2 ≈ 1.414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73609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Step A  ·  raw dots  Q Kᵀ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74519"/>
            <a:ext cx="69494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The·The = 1·1 + 0·0 = 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The·cat = 1·0 + 0·1 = 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The·sat = 1·1 + 0·1 = 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5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cat·The = 0    cat·cat = 1    cat·sat = 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sat·The = 1    sat·cat = 1    sat·sat = 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5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A6577"/>
                </a:solidFill>
                <a:latin typeface="Consolas"/>
              </a:rPr>
              <a:t>Q Kᵀ  =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E2A47"/>
                </a:solidFill>
                <a:latin typeface="Consolas"/>
              </a:rPr>
              <a:t>        [[ 1 ,  0 ,  1 ],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E2A47"/>
                </a:solidFill>
                <a:latin typeface="Consolas"/>
              </a:rPr>
              <a:t>         [ 0 ,  1 ,  1 ],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E2A47"/>
                </a:solidFill>
                <a:latin typeface="Consolas"/>
              </a:rPr>
              <a:t>         [ 1 ,  1 ,  2 ]]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Scale, softmax, weighted values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264" y="1078992"/>
            <a:ext cx="7342991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703320"/>
            <a:ext cx="11338560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822191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Step B–D  ·  one query worked in full  (token “sat”)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1097280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scaled = [1, 1, 2] / 1.414 = [0.707, 0.707, 1.414]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e^{0.707} = 2.028    e^{1.414} = 4.112    sum = 8.168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45C26"/>
                </a:solidFill>
                <a:latin typeface="Consolas"/>
              </a:rPr>
              <a:t>α_sat = [0.248,  0.248,  0.503]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z_sat = 0.248·[1,0] + 0.248·[0,2] + 0.503·[1,1]  =  [0.752,  1.000]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three output vectors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15568"/>
            <a:ext cx="1417320" cy="157276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417320" cy="1572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225295"/>
            <a:ext cx="9326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α = [0.401, 0.198, 0.401]      [ 0.802 ,  0.797 ]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z = 0.401[1,0] + 0.198[0,2] + 0.401[1,1]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Looks equally at The and sat; almost ignores cat.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07208"/>
            <a:ext cx="11247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2807208"/>
            <a:ext cx="1417320" cy="157276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1417320" cy="1572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2A47"/>
                </a:solidFill>
                <a:latin typeface="Calibri"/>
              </a:rPr>
              <a:t>cat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916936"/>
            <a:ext cx="9326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α = [0.198, 0.401, 0.401]      [ 0.599 ,  1.203 ]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z = 0.198[1,0] + 0.401[0,2] + 0.401[1,1]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Mixes cat and sat. The y-component rises because V_cat = [0,2].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98848"/>
            <a:ext cx="11247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4498848"/>
            <a:ext cx="1417320" cy="1572768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498848"/>
            <a:ext cx="1417320" cy="1572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608576"/>
            <a:ext cx="9326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α = [0.248, 0.248, 0.503]      [ 0.752 ,  1.000 ]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z = 0.248[1,0] + 0.248[0,2] + 0.503[1,1]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Self-weight 0.50 — sat keeps half of its own value.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From embeddings to Q  —  one matrix multiply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Same three tokens.  d_model = 2.  This is the step the previous slides started after.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5669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X  and  W_Q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349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577"/>
                </a:solidFill>
                <a:latin typeface="Consolas"/>
              </a:rPr>
              <a:t>X =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The  [ 1.0 ,  0.0 ]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cat  [ 0.5 ,  1.0 ]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 sat  [ 0.0 ,  1.0 ]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5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W_Q =  [[ 0.8 ,  0.2 ],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        [ 0.4 ,  0.6 ]]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500" b="1" i="0">
              <a:solidFill>
                <a:srgbClr val="0E2A47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q_i = x_i  W_Q     (row × matrix)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Compute each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166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q_The = [1.0, 0.0] W_Q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45C26"/>
                </a:solidFill>
                <a:latin typeface="Consolas"/>
              </a:rPr>
              <a:t>      = [0.80,  0.20]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600" b="1" i="0">
              <a:solidFill>
                <a:srgbClr val="C45C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q_cat = [0.5, 1.0] W_Q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45C26"/>
                </a:solidFill>
                <a:latin typeface="Consolas"/>
              </a:rPr>
              <a:t>      = [0.80,  0.70]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600" b="1" i="0">
              <a:solidFill>
                <a:srgbClr val="C45C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q_sat = [0.0, 1.0] W_Q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45C26"/>
                </a:solidFill>
                <a:latin typeface="Consolas"/>
              </a:rPr>
              <a:t>      = [0.40,  0.60]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600" b="1" i="0">
              <a:solidFill>
                <a:srgbClr val="C45C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K and V are the same pattern with W_K, W_V.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Why divide by √d_k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If keys and queries are roughly unit-scale, Var(q·k) ≈ d_k. For d_k = 64 the raw dots sit near ±8.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7223760" cy="28160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1234440"/>
            <a:ext cx="40690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41732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unscaled  [8, 0, −2]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softmax 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45C26"/>
                </a:solidFill>
                <a:latin typeface="Consolas"/>
              </a:rPr>
              <a:t>  [0.9996, 0.0003, 0.00005]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45C26"/>
                </a:solidFill>
                <a:latin typeface="Calibri"/>
              </a:rPr>
              <a:t>almost one-hot 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C45C26"/>
                </a:solidFill>
                <a:latin typeface="Calibri"/>
              </a:rPr>
              <a:t>gradient through softmax ≈ 0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300" b="1" i="0">
              <a:solidFill>
                <a:srgbClr val="C45C2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÷ √64 = 8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scaled  [1.00, 0.00, −0.25]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softmax 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7C7B"/>
                </a:solidFill>
                <a:latin typeface="Consolas"/>
              </a:rPr>
              <a:t>  [0.604, 0.222, 0.173]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usable, differentiable 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A SUBTLE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Attention is not symmetric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91440" cy="135331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10899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C26"/>
                </a:solidFill>
                <a:latin typeface="Calibri"/>
              </a:rPr>
              <a:t>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99616"/>
            <a:ext cx="10899648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attention function from word i to word j is not the same as from word j to word 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29184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a_ij uses q_i · k_j. a_ji uses q_j · k_i. W_Q ≠ W_K, so the two dots live in different spaces.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65176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834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What it buys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383280"/>
            <a:ext cx="329184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“bank” can attend strongly to “river” while “river” attends to “flowed”. Relations need not be mutual.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65176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7C7B"/>
                </a:solidFill>
                <a:latin typeface="Calibri"/>
              </a:rPr>
              <a:t>Softmax makes it worse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83280"/>
            <a:ext cx="329184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Each row is normalised on its own. Row i and row j do not even share a partition of mass.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MULTI-HEAD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Many definitions of “relevant”, in parallel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946" y="1051560"/>
            <a:ext cx="7339627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709160"/>
            <a:ext cx="11247120" cy="1463040"/>
          </a:xfrm>
          <a:prstGeom prst="roundRect">
            <a:avLst>
              <a:gd name="adj" fmla="val 8000"/>
            </a:avLst>
          </a:prstGeom>
          <a:solidFill>
            <a:srgbClr val="F7F4EE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864608"/>
            <a:ext cx="1088136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Reference implementation: h = 8 heads, each with d_k = d_v = 64, so 8 × 64 = 512 = d_model. The notes: multiple heads let the model keep several incompatible notions of relevance — syntax, coreference, next-word, negation — and modern hardware evaluates them together.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Two heads, then concat and W_O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Head outputs are 2-D. Concat gives 4-D. W_O maps back to d_model = 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5669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After attention  (token “sat”)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349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Head 1  (syntax-ish)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C2333"/>
                </a:solidFill>
                <a:latin typeface="Consolas"/>
              </a:rPr>
              <a:t>z1 = [ 0.75 ,  1.00 ]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600" b="1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Head 2  (meaning-ish)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C2333"/>
                </a:solidFill>
                <a:latin typeface="Consolas"/>
              </a:rPr>
              <a:t>z2 = [ 0.20 , −0.40 ]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600" b="1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Consolas"/>
              </a:rPr>
              <a:t>Concat = [ 0.75, 1.00, 0.20, −0.40 ]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Project with W_O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166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Take W_O = (1/4) I_4  for a clean hand step.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300" b="0" i="0">
              <a:solidFill>
                <a:srgbClr val="5A6577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out = Concat  W_O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45C26"/>
                </a:solidFill>
                <a:latin typeface="Consolas"/>
              </a:rPr>
              <a:t>    = [ 0.188,  0.250,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45C26"/>
                </a:solidFill>
                <a:latin typeface="Consolas"/>
              </a:rPr>
              <a:t>       0.050, −0.100 ]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500" b="1" i="0">
              <a:solidFill>
                <a:srgbClr val="C45C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A47"/>
                </a:solidFill>
                <a:latin typeface="Calibri"/>
              </a:rPr>
              <a:t>Then:  residual + LayerNorm.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x ← LN( x + out 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That vector enters the FFN.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LOOK-AHEAD MASK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decoder is not allowed to see the future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78992"/>
            <a:ext cx="11704320" cy="53403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WORKED EXAMPLE  ·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Causal mask on a 3-token prefix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577"/>
                </a:solidFill>
                <a:latin typeface="Calibri"/>
              </a:rPr>
              <a:t>Decoder is predicting the next English token. Prefix:  &lt;s&gt;   I   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56692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Scores before the mask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3492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5A6577"/>
                </a:solidFill>
                <a:latin typeface="Consolas"/>
              </a:rPr>
              <a:t>        &lt;s&gt;    I     am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&lt;s&gt;    1.2    0.4   0.1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 I     0.3    1.5   0.6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C2333"/>
                </a:solidFill>
                <a:latin typeface="Consolas"/>
              </a:rPr>
              <a:t>am     0.2    0.8   1.4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endParaRPr sz="1500" b="0" i="0">
              <a:solidFill>
                <a:srgbClr val="1C2333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5C26"/>
                </a:solidFill>
                <a:latin typeface="Calibri"/>
              </a:rPr>
              <a:t>Upper triangle is the future.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5C26"/>
                </a:solidFill>
                <a:latin typeface="Calibri"/>
              </a:rPr>
              <a:t>Set those entries to −∞.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After mask  →  softmax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5166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&lt;s&gt;  [1.2, −∞, −∞]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45C26"/>
                </a:solidFill>
                <a:latin typeface="Consolas"/>
              </a:rPr>
              <a:t>  →  [1.000,  0,  0]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500" b="1" i="0">
              <a:solidFill>
                <a:srgbClr val="C45C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I    [0.3, 1.5, −∞]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577"/>
                </a:solidFill>
                <a:latin typeface="Consolas"/>
              </a:rPr>
              <a:t>e^0.3=1.350  e^1.5=4.482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45C26"/>
                </a:solidFill>
                <a:latin typeface="Consolas"/>
              </a:rPr>
              <a:t>  →  [0.231, 0.769,  0]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sz="1500" b="1" i="0">
              <a:solidFill>
                <a:srgbClr val="C45C26"/>
              </a:solidFill>
              <a:latin typeface="Consolas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C2333"/>
                </a:solidFill>
                <a:latin typeface="Consolas"/>
              </a:rPr>
              <a:t>am   [0.2, 0.8, 1.4]  (no mask)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C45C26"/>
                </a:solidFill>
                <a:latin typeface="Consolas"/>
              </a:rPr>
              <a:t>  →  [0.175, 0.319, 0.506]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CROSS-ATTENTION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only place the target reads the source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015" y="1078992"/>
            <a:ext cx="7633489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434340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44805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Q from the 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4983480"/>
            <a:ext cx="3383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The current English prefix: what am I trying to write next?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34340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44805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K, V from the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4983480"/>
            <a:ext cx="3383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The whole Portuguese sentence, already contextualised. Sent to every decoder block.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34340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44805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No look-ahead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4983480"/>
            <a:ext cx="3383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The source is fully known. Only decoder self-attention is causal.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POSITION-WISE FFN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same MLP, applied to every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91440" cy="14447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10899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Notes  ·  two dense layers, ReLU in between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99616"/>
            <a:ext cx="10899648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E2A47"/>
                </a:solidFill>
                <a:latin typeface="Calibri"/>
              </a:rPr>
              <a:t>FFN(x)  =  max(0,  x W₁ + b₁)  W₂ + b₂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  <a:latin typeface="Calibri"/>
              </a:rPr>
              <a:t>d_model = 512  →  2048  →  512     (same MLP at every position)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61488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Position-wise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291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Token 1 and token 7 share weights, but their activations never mix inside the FFN. Mixing already happened in attention.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761488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9260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Why expand to 2048?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474720"/>
            <a:ext cx="3291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A wide ReLU MLP is a universal per-token function. Attention routes; the FFN transforms.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761488"/>
            <a:ext cx="365760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9260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Then Add &amp; Norm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3291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FFN output is added back to its input and normalised. That vector is the input to the next block — or, at the last encoder, the memory.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END-TO-END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From raw sentence to next-token distribution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830" y="1097280"/>
            <a:ext cx="6843859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47472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365760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Encoder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4160520"/>
            <a:ext cx="3383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Tokenize source → embed → +PE → 6 × (MHA, Add&amp;Norm, FFN, Add&amp;Norm) → memory K, 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47472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365760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Decoder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4160520"/>
            <a:ext cx="3383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Tokenize target (shifted) → embed → +PE → 6 × (masked MHA, cross-MHA, FFN) → 512-d embeddings.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7472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365760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Readout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4160520"/>
            <a:ext cx="33832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Dense to |vocab|. Softmax. Train with teacher forcing; infer by feeding the model’s own token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DEEP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Parallelism is the point — n² is the price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29054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188720"/>
            <a:ext cx="3977639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9" y="1371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74519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RNN: O(n · d²), sequential in n.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Attention: O(n² · d), parallel in n.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Break-even near n ≈ d (512).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Sentences win; books lose.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That is why the notes list LSH, local, Reformer, BigBird.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•  Depth (N=6) is cheap once the sequence is parallel.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Semi-supervised, in two steps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680" y="1097280"/>
            <a:ext cx="6772159" cy="2331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61188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376732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Unsupervised pretraining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4297680"/>
            <a:ext cx="33832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Masked LM (BERT), causal LM (GPT), span corruption (T5). Needs a very large corpus and serious GPU / TPU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61188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376732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Supervised fine-tuning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4297680"/>
            <a:ext cx="33832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A smaller labelled set: translation, QA, classification. Sometimes so small it is few-shot — the notes already name this.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61188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376732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7C7B"/>
                </a:solidFill>
                <a:latin typeface="Calibri"/>
              </a:rPr>
              <a:t>Why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4297680"/>
            <a:ext cx="33832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Pretraining builds a general residual stream. Fine-tuning only has to retarget the readout — or, in few-shot, not even that.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ARCHITECTURE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notes’ map of the post-2017 zoo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8992"/>
            <a:ext cx="11430000" cy="451611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LANDMARK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What the notes expect you to be able to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4023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BERT / RoBERTa / ALBERT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15568"/>
            <a:ext cx="6583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Encoder only. Bidirectional MLM. Workhorse for classification, NER, QA.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56816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56816"/>
            <a:ext cx="4023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GPT-2 / GPT-3 / PaLM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956816"/>
            <a:ext cx="6583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Decoder only. Causal LM. In-context learning appears as the model grows.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98064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98064"/>
            <a:ext cx="4023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T5 / 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98064"/>
            <a:ext cx="6583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Encoder–decoder. Every task is text-to-text.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39312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639312"/>
            <a:ext cx="4023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Transformer-XL / XLNet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639312"/>
            <a:ext cx="6583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Longer context (segment recurrence) and permutation LM.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4023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Reformer / BigBird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480560"/>
            <a:ext cx="6583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Hashing or sparse patterns so n² becomes closer to 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21808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321808"/>
            <a:ext cx="4023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ELECTRA / DeBERTa / StructBERT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321808"/>
            <a:ext cx="6583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Better pretraining objectives and disentangled attention.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IMPLEMENTATION  · 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Portuguese → English, the TensorFlow walk-through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15568"/>
            <a:ext cx="640080" cy="74980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640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15568"/>
            <a:ext cx="21031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Libraries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115568"/>
            <a:ext cx="79552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tensorflow, tensorflow_text, TensorFlow Datasets. The Colab in the notes is missing import tensorflow_text — add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56816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1956816"/>
            <a:ext cx="640080" cy="74980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956816"/>
            <a:ext cx="640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956816"/>
            <a:ext cx="21031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956816"/>
            <a:ext cx="79552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Load the PT–EN pair corpus. Drop examples longer than MAX_TOKENS.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98064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2798064"/>
            <a:ext cx="640080" cy="74980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798064"/>
            <a:ext cx="640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98064"/>
            <a:ext cx="21031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Tokenize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798064"/>
            <a:ext cx="79552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Text → token IDs, used as indices into an embedding table. Inspect IDs and pieces.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39312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3639312"/>
            <a:ext cx="640080" cy="74980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39312"/>
            <a:ext cx="640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639312"/>
            <a:ext cx="21031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639312"/>
            <a:ext cx="79552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Map, padded batch. Two functions: filter-by-length, then tokenize-batch.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80560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7200" y="4480560"/>
            <a:ext cx="640080" cy="74980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480560"/>
            <a:ext cx="640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480560"/>
            <a:ext cx="21031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PE + masks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480560"/>
            <a:ext cx="79552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Sinusoidal PE in d-dimensional space. Padding mask + look-ahead mask.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321808"/>
            <a:ext cx="112471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7200" y="5321808"/>
            <a:ext cx="640080" cy="749808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321808"/>
            <a:ext cx="640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321808"/>
            <a:ext cx="21031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alibri"/>
              </a:rPr>
              <a:t>Blocks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321808"/>
            <a:ext cx="79552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33"/>
                </a:solidFill>
                <a:latin typeface="Calibri"/>
              </a:rPr>
              <a:t>Scaled dot-product → multi-head (linear, attention, linear) → point-wise FFN → encoder / decoder / Transformer.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IMPLEMENTATION  ·  SHAPES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What each tensor is doing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15568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Input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115568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(batch, T_src)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15568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Integer Portuguese tokens, padded.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38528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Target 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38528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(batch, T_tgt)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38528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English tokens, shifted right for teacher forcing.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61488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761488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Embeddings +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61488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(batch, T, 512)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61488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Same width on both sides.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84448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584448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Attention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584448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(batch, h, T_q, T_k)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84448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One heatmap per head.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07408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407408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Head output 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407408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(batch, T, 512)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07408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Concat of 8 × 64, times W_O.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30368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230368"/>
            <a:ext cx="2834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7C7B"/>
                </a:solidFill>
                <a:latin typeface="Calibri"/>
              </a:rPr>
              <a:t>Logits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230368"/>
            <a:ext cx="3017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2A47"/>
                </a:solidFill>
                <a:latin typeface="Consolas"/>
              </a:rPr>
              <a:t>(batch, T_tgt, 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230368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V = English vocab. Sparse categorical cross-entropy vs. the unshifted target.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transformer is autoregressive at decode time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592" y="1078992"/>
            <a:ext cx="7070334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749039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Encode the Portuguese sentence once with tokenizer.pt — the memory is reused every step.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Decoder input starts as [START]. Padding and look-ahead masks are rebuilt as the prefix grows.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The decoder looks at encoder output (cross-attention) and at its own prefix (masked self-attention).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Concatenate the predicted token and call the decoder again, until [END] or a length cap.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C2333"/>
                </a:solidFill>
                <a:latin typeface="Calibri"/>
              </a:rPr>
              <a:t>•  Notes: greedy argmax, or a more sophisticated search such as beam search.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IMPLEMENTATION  ·  TRAINING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Hyperparameters, loss, checkpoints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703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Optimizer &amp;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83080"/>
            <a:ext cx="3383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Adam with the paper’s warmup learning-rate schedule (or a close variant). Sparse categorical cross-entropy on the unshifted English IDs. Padding tokens are masked out of the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703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97680" y="114300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1143000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train_step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783080"/>
            <a:ext cx="3383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The model is autoregressive. A look-ahead mask stops it from peeking at the expected output. Current decoder output is used only to predict the next token.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143000"/>
            <a:ext cx="37033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3879" y="1143000"/>
            <a:ext cx="3703320" cy="457200"/>
          </a:xfrm>
          <a:prstGeom prst="roundRect">
            <a:avLst>
              <a:gd name="adj" fmla="val 8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143000"/>
            <a:ext cx="3703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Checkpoints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783080"/>
            <a:ext cx="33832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Save encoder, decoder, and the final linear layer. Restore for inference without rebuilding the dataset pipeline.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434840"/>
            <a:ext cx="11338560" cy="173736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1B2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109728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Reference sizes from the seminal paper  (notes)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7EE0C8"/>
                </a:solidFill>
                <a:latin typeface="Consolas"/>
              </a:rPr>
              <a:t>N = 6 blocks     h = 8 heads     d_model = 512     d_k = d_v = 64     d_ff = 2048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</a:rPr>
              <a:t>PE: sinusoid, no learned params     decode: greedy or beam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What should stick after this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35331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Attention replaces recurrence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84832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Every token may read every other token in one GEMM. Path length is O(1).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35331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Q, K, V + √d_k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084832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q_i·k_j is similarity; V is the payload; scaling keeps softmax alive.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17043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135331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Four ideas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084832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Positional encoding, attention, self-attention, multi-head — the whole recipe.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Encoder vs decoder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553712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Encoder is bidirectional. Decoder is causal + cross-attends to encoder memory.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382219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Residual highway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553712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LN(x + Sublayer(x)) is how depth works. Layers write deltas into a stream.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639312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85048" y="382219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7C7B"/>
                </a:solidFill>
                <a:latin typeface="Calibri"/>
              </a:rPr>
              <a:t>Train, then decode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553712"/>
            <a:ext cx="3291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33"/>
                </a:solidFill>
                <a:latin typeface="Calibri"/>
              </a:rPr>
              <a:t>Pretrain / fine-tune. Infer autoregressively with a look-ahead mask.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4922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7B"/>
                </a:solidFill>
                <a:latin typeface="Calibri"/>
              </a:rPr>
              <a:t>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Calibri"/>
              </a:rPr>
              <a:t>The eight hand calculations, in one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11338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1  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09728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d=4, pos=0,1,2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097280"/>
            <a:ext cx="5806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333"/>
                </a:solidFill>
                <a:latin typeface="Consolas"/>
              </a:rPr>
              <a:t>[0,1,0,1]   [0.841, 0.540, 0.010, 1]   [0.909, −0.416, 0.020,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737360"/>
            <a:ext cx="11338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2  Dots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73736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QKᵀ for The/cat/sat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737360"/>
            <a:ext cx="5806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333"/>
                </a:solidFill>
                <a:latin typeface="Consolas"/>
              </a:rPr>
              <a:t>[[1,0,1],[0,1,1],[1,1,2]]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377439"/>
            <a:ext cx="11338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377439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3  Scale + softmax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377439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÷ √2, then softmax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377439"/>
            <a:ext cx="5806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333"/>
                </a:solidFill>
                <a:latin typeface="Consolas"/>
              </a:rPr>
              <a:t>sat → α = [0.248, 0.248, 0.503]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017520"/>
            <a:ext cx="11338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4  Weighted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01752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z = α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017520"/>
            <a:ext cx="5806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333"/>
                </a:solidFill>
                <a:latin typeface="Consolas"/>
              </a:rPr>
              <a:t>z_sat = [0.752, 1.000]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657600"/>
            <a:ext cx="11338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5  x W_Q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65760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one query from 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657600"/>
            <a:ext cx="5806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333"/>
                </a:solidFill>
                <a:latin typeface="Consolas"/>
              </a:rPr>
              <a:t>q_The = [1,0] W_Q = [0.80, 0.20]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297680"/>
            <a:ext cx="11338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6  √d_k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29768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d_k = 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297680"/>
            <a:ext cx="5806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333"/>
                </a:solidFill>
                <a:latin typeface="Consolas"/>
              </a:rPr>
              <a:t>softmax([8,0,−2]) ≈ one-hot;  ÷8 restores a usable distribution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937759"/>
            <a:ext cx="11338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937759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7  Two heads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937759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concat · W_O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937759"/>
            <a:ext cx="5806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333"/>
                </a:solidFill>
                <a:latin typeface="Consolas"/>
              </a:rPr>
              <a:t>[0.75,1,0.20,−0.40] · (¼ I) = [0.188, 0.250, 0.050, −0.100]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5577840"/>
            <a:ext cx="113385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C7B"/>
                </a:solidFill>
                <a:latin typeface="Calibri"/>
              </a:rPr>
              <a:t>8  Causal mask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557784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577"/>
                </a:solidFill>
                <a:latin typeface="Calibri"/>
              </a:rPr>
              <a:t>prefix &lt;s&gt; I 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577840"/>
            <a:ext cx="5806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2333"/>
                </a:solidFill>
                <a:latin typeface="Consolas"/>
              </a:rPr>
              <a:t>row 0 → [1,0,0]    row 1 → [0.231, 0.769, 0]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601968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TLM Deep Learning  ·  Session 6  ·  Transformers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paper, and the notes around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C5D0DC"/>
                </a:solidFill>
                <a:latin typeface="Calibri"/>
              </a:rPr>
              <a:t>Vaswani et al., Attention Is All You Need, NeurIPS 2017.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C5D0DC"/>
                </a:solidFill>
                <a:latin typeface="Calibri"/>
              </a:rPr>
              <a:t>Bahdanau, Cho, Bengio — Neural Machine Translation by Jointly Learning to Align and Translate, 2014.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C5D0DC"/>
                </a:solidFill>
                <a:latin typeface="Calibri"/>
              </a:rPr>
              <a:t>The Illustrated Transformer — Jay Alammar. A visual companion to every block on these slides.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C5D0DC"/>
                </a:solidFill>
                <a:latin typeface="Calibri"/>
              </a:rPr>
              <a:t>Chapter 6 of Deep Learning TLM session 6.docx  ·  Portuguese–English TensorFlow notebook.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TLM Deep Learning  ·  Session 6  ·  Transformers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AB0C0"/>
                </a:solidFill>
                <a:latin typeface="Calibri"/>
              </a:rPr>
              <a:t>Based on Deep Learning TLM session 6.docx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5158</Words>
  <Application>Microsoft Office PowerPoint</Application>
  <PresentationFormat>Widescreen</PresentationFormat>
  <Paragraphs>619</Paragraphs>
  <Slides>44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DAVID AGUSTRIAWAN (083674)</cp:lastModifiedBy>
  <cp:revision>1</cp:revision>
  <dcterms:created xsi:type="dcterms:W3CDTF">2013-01-27T09:14:16Z</dcterms:created>
  <dcterms:modified xsi:type="dcterms:W3CDTF">2026-09-29T04:37:51Z</dcterms:modified>
  <cp:category/>
</cp:coreProperties>
</file>